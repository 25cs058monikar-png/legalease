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strument Serif"/>
      <p:regular r:id="rId201314"/>
    </p:embeddedFont>
    <p:embeddedFont>
      <p:font typeface="Roboto"/>
      <p:regular r:id="rId201315"/>
    </p:embeddedFont>
    <p:embeddedFont>
      <p:font typeface="Roboto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9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9">
              <a:alpha val="70000"/>
            </a:srgbClr>
          </a:solidFill>
          <a:ln/>
        </p:spPr>
      </p:sp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9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279029"/>
            <a:ext cx="10927878" cy="2850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5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LegalEaseAI</a:t>
            </a:r>
            <a:endParaRPr lang="en-US" sz="745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7450" i="1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AI-Powered Legal Information Assistant</a:t>
            </a:r>
            <a:endParaRPr lang="en-US" sz="7450" dirty="0"/>
          </a:p>
        </p:txBody>
      </p:sp>
      <p:sp>
        <p:nvSpPr>
          <p:cNvPr id="3" name="Text 1"/>
          <p:cNvSpPr/>
          <p:nvPr/>
        </p:nvSpPr>
        <p:spPr>
          <a:xfrm>
            <a:off x="631908" y="4400748"/>
            <a:ext cx="10927878" cy="1029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spcAft>
                <a:spcPts val="1550"/>
              </a:spcAft>
              <a:buNone/>
            </a:pPr>
            <a:endParaRPr lang="en-US" sz="1400" dirty="0"/>
          </a:p>
          <a:p>
            <a:pPr algn="l" indent="0" marL="0">
              <a:lnSpc>
                <a:spcPct val="96000"/>
              </a:lnSpc>
              <a:spcAft>
                <a:spcPts val="1550"/>
              </a:spcAft>
              <a:buNone/>
            </a:pPr>
            <a:r>
              <a:rPr lang="en-US" sz="14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AI-based system for providing accessible and understandable legal information.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08" y="5633045"/>
            <a:ext cx="4893644" cy="496491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5740" y="5633045"/>
            <a:ext cx="4140989" cy="4964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57976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2282230"/>
            <a:ext cx="1099812" cy="116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AF968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OVERVIEW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631908" y="2471638"/>
            <a:ext cx="10927878" cy="332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31908" y="3025279"/>
            <a:ext cx="5309757" cy="166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31908" y="3279973"/>
            <a:ext cx="5309757" cy="741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81000"/>
              </a:lnSpc>
              <a:buSzPct val="100000"/>
              <a:buChar char="•"/>
            </a:pPr>
            <a:r>
              <a:rPr lang="en-US" sz="95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Legal terminology is complex and technical for ordinary users.</a:t>
            </a:r>
            <a:endParaRPr lang="en-US" sz="950" dirty="0"/>
          </a:p>
          <a:p>
            <a:pPr algn="l" marL="193040" indent="-193040">
              <a:lnSpc>
                <a:spcPct val="81000"/>
              </a:lnSpc>
              <a:buSzPct val="100000"/>
              <a:buChar char="•"/>
            </a:pPr>
            <a:r>
              <a:rPr lang="en-US" sz="95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Finding relevant legal information takes significant time and effort.</a:t>
            </a:r>
            <a:endParaRPr lang="en-US" sz="950" dirty="0"/>
          </a:p>
          <a:p>
            <a:pPr algn="l" marL="193040" indent="-193040">
              <a:lnSpc>
                <a:spcPct val="81000"/>
              </a:lnSpc>
              <a:buSzPct val="100000"/>
              <a:buChar char="•"/>
            </a:pPr>
            <a:r>
              <a:rPr lang="en-US" sz="95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 may not know which law or section applies to their situation.</a:t>
            </a:r>
            <a:endParaRPr lang="en-US" sz="950" dirty="0"/>
          </a:p>
          <a:p>
            <a:pPr algn="l" marL="193040" indent="-193040">
              <a:lnSpc>
                <a:spcPct val="81000"/>
              </a:lnSpc>
              <a:buSzPct val="100000"/>
              <a:buChar char="•"/>
            </a:pPr>
            <a:r>
              <a:rPr lang="en-US" sz="95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legal resources are difficult to navigate.</a:t>
            </a:r>
            <a:endParaRPr lang="en-US" sz="950" dirty="0"/>
          </a:p>
          <a:p>
            <a:pPr algn="l" marL="193040" indent="-193040">
              <a:lnSpc>
                <a:spcPct val="81000"/>
              </a:lnSpc>
              <a:buSzPct val="100000"/>
              <a:buChar char="•"/>
            </a:pPr>
            <a:r>
              <a:rPr lang="en-US" sz="95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People need a simple explanation before approaching a qualified lawyer.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256379" y="3025279"/>
            <a:ext cx="5309757" cy="166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56379" y="3279973"/>
            <a:ext cx="5309757" cy="573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1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LegalEaseAI provides a </a:t>
            </a:r>
            <a:pPr algn="l" indent="0" marL="0">
              <a:lnSpc>
                <a:spcPct val="81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84796D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simple conversational interface</a:t>
            </a:r>
            <a:pPr algn="l" indent="0" marL="0">
              <a:lnSpc>
                <a:spcPct val="81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accessing general legal information — converting complex legal concepts into clear, structured and understandable responses.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7853" y="3953173"/>
            <a:ext cx="3606710" cy="214064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18177" y="5610908"/>
            <a:ext cx="896545" cy="14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User Receives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488285" y="5610908"/>
            <a:ext cx="896545" cy="14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AI Processes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339971" y="5610908"/>
            <a:ext cx="896545" cy="14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User Asks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595438"/>
            <a:ext cx="19107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AF968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CAPABILITIES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31908" y="1887736"/>
            <a:ext cx="10927878" cy="475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70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Key Features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631908" y="3044428"/>
            <a:ext cx="2596589" cy="2272209"/>
          </a:xfrm>
          <a:prstGeom prst="roundRect">
            <a:avLst>
              <a:gd name="adj" fmla="val 335"/>
            </a:avLst>
          </a:prstGeom>
          <a:solidFill>
            <a:srgbClr val="614B3C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8733" y="3231257"/>
            <a:ext cx="541622" cy="541635"/>
          </a:xfrm>
          <a:prstGeom prst="ellipse">
            <a:avLst/>
          </a:prstGeom>
          <a:solidFill>
            <a:srgbClr val="EEEE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7656" y="3380184"/>
            <a:ext cx="243675" cy="2436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8733" y="3953371"/>
            <a:ext cx="2222940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Natural-Language Queries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18733" y="4299148"/>
            <a:ext cx="2222940" cy="622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Ask legal questions in plain everyday language — no legal jargon required.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408972" y="3044428"/>
            <a:ext cx="2596589" cy="2272209"/>
          </a:xfrm>
          <a:prstGeom prst="roundRect">
            <a:avLst>
              <a:gd name="adj" fmla="val 335"/>
            </a:avLst>
          </a:prstGeom>
          <a:solidFill>
            <a:srgbClr val="614B3C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95796" y="3231257"/>
            <a:ext cx="541622" cy="541635"/>
          </a:xfrm>
          <a:prstGeom prst="ellipse">
            <a:avLst/>
          </a:prstGeom>
          <a:solidFill>
            <a:srgbClr val="EEEE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44720" y="3380184"/>
            <a:ext cx="243675" cy="24368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5796" y="3953371"/>
            <a:ext cx="2222940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AI-Powered Responses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3595796" y="4299148"/>
            <a:ext cx="2222940" cy="622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Gemini generates structured, context-aware legal information instantly.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186035" y="3044428"/>
            <a:ext cx="2596589" cy="2272209"/>
          </a:xfrm>
          <a:prstGeom prst="roundRect">
            <a:avLst>
              <a:gd name="adj" fmla="val 335"/>
            </a:avLst>
          </a:prstGeom>
          <a:solidFill>
            <a:srgbClr val="614B3C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72859" y="3231257"/>
            <a:ext cx="541622" cy="541635"/>
          </a:xfrm>
          <a:prstGeom prst="ellipse">
            <a:avLst/>
          </a:prstGeom>
          <a:solidFill>
            <a:srgbClr val="EEEEE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1783" y="3380184"/>
            <a:ext cx="243675" cy="24368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72859" y="3953371"/>
            <a:ext cx="2222940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Indian Legal Context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6372859" y="4299148"/>
            <a:ext cx="2222940" cy="622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Responses are grounded in Indian law, referencing relevant acts and sections.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8963098" y="3044428"/>
            <a:ext cx="2596688" cy="2272209"/>
          </a:xfrm>
          <a:prstGeom prst="roundRect">
            <a:avLst>
              <a:gd name="adj" fmla="val 335"/>
            </a:avLst>
          </a:prstGeom>
          <a:solidFill>
            <a:srgbClr val="614B3C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49923" y="3231257"/>
            <a:ext cx="541622" cy="541635"/>
          </a:xfrm>
          <a:prstGeom prst="ellipse">
            <a:avLst/>
          </a:prstGeom>
          <a:solidFill>
            <a:srgbClr val="EEEEE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98846" y="3380184"/>
            <a:ext cx="243675" cy="24368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9923" y="3953371"/>
            <a:ext cx="2223040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Legal Disclaimer</a:t>
            </a:r>
            <a:endParaRPr lang="en-US" sz="1850" dirty="0"/>
          </a:p>
        </p:txBody>
      </p:sp>
      <p:sp>
        <p:nvSpPr>
          <p:cNvPr id="23" name="Text 17"/>
          <p:cNvSpPr/>
          <p:nvPr/>
        </p:nvSpPr>
        <p:spPr>
          <a:xfrm>
            <a:off x="9149923" y="4299148"/>
            <a:ext cx="2223040" cy="830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Clearly communicates that responses are informational, not professional legal advice.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790277"/>
            <a:ext cx="153457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AF968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31908" y="1082576"/>
            <a:ext cx="6355993" cy="475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70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Technology Stack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31908" y="2239268"/>
            <a:ext cx="180474" cy="1169591"/>
          </a:xfrm>
          <a:prstGeom prst="roundRect">
            <a:avLst>
              <a:gd name="adj" fmla="val 4222"/>
            </a:avLst>
          </a:prstGeom>
          <a:solidFill>
            <a:srgbClr val="614B3C"/>
          </a:solidFill>
          <a:ln w="6350">
            <a:solidFill>
              <a:srgbClr val="7A645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92857" y="2419747"/>
            <a:ext cx="5995044" cy="2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Frontend — Streamlit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92857" y="2813050"/>
            <a:ext cx="5995044" cy="415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web interface for entering legal questions and displaying AI-generated responses.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02670" y="3589337"/>
            <a:ext cx="180474" cy="1182291"/>
          </a:xfrm>
          <a:prstGeom prst="roundRect">
            <a:avLst>
              <a:gd name="adj" fmla="val 4222"/>
            </a:avLst>
          </a:prstGeom>
          <a:solidFill>
            <a:srgbClr val="614B3C"/>
          </a:solidFill>
          <a:ln w="6350">
            <a:solidFill>
              <a:srgbClr val="7A64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63618" y="3769816"/>
            <a:ext cx="5724283" cy="2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Backend — Python + FastAPI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263618" y="4163120"/>
            <a:ext cx="5724283" cy="428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 API endpoints (</a:t>
            </a:r>
            <a:pPr algn="l" indent="0" marL="0">
              <a:lnSpc>
                <a:spcPct val="96000"/>
              </a:lnSpc>
              <a:buNone/>
            </a:pPr>
            <a:r>
              <a:rPr lang="en-US" sz="1400" dirty="0">
                <a:solidFill>
                  <a:srgbClr val="84796D"/>
                </a:solidFill>
                <a:highlight>
                  <a:srgbClr val="F2F2E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pPr algn="l" indent="0" marL="0">
              <a:lnSpc>
                <a:spcPct val="96000"/>
              </a:lnSpc>
              <a:buNone/>
            </a:pPr>
            <a:r>
              <a:rPr lang="en-US" sz="14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indent="0" marL="0">
              <a:lnSpc>
                <a:spcPct val="96000"/>
              </a:lnSpc>
              <a:buNone/>
            </a:pPr>
            <a:r>
              <a:rPr lang="en-US" sz="1400" dirty="0">
                <a:solidFill>
                  <a:srgbClr val="84796D"/>
                </a:solidFill>
                <a:highlight>
                  <a:srgbClr val="F2F2E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/ask</a:t>
            </a:r>
            <a:pPr algn="l" indent="0" marL="0">
              <a:lnSpc>
                <a:spcPct val="96000"/>
              </a:lnSpc>
              <a:buNone/>
            </a:pPr>
            <a:r>
              <a:rPr lang="en-US" sz="14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handling requests, input validation, and AI communication via Uvicorn.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173530" y="4952107"/>
            <a:ext cx="180474" cy="1169591"/>
          </a:xfrm>
          <a:prstGeom prst="roundRect">
            <a:avLst>
              <a:gd name="adj" fmla="val 4222"/>
            </a:avLst>
          </a:prstGeom>
          <a:solidFill>
            <a:srgbClr val="614B3C"/>
          </a:solidFill>
          <a:ln w="6350">
            <a:solidFill>
              <a:srgbClr val="7A64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34479" y="5132586"/>
            <a:ext cx="5453422" cy="2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AI Layer — Google Gemini API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534479" y="5525889"/>
            <a:ext cx="5453422" cy="415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Processes natural-language questions and generates structured legal-information responses with Indian legal context.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4669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2165648"/>
            <a:ext cx="1277409" cy="107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AF968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631908" y="2339082"/>
            <a:ext cx="10927878" cy="308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System Architecture</a:t>
            </a:r>
            <a:endParaRPr lang="en-US" sz="2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571" y="2959398"/>
            <a:ext cx="7044553" cy="30378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047566" y="5436942"/>
            <a:ext cx="1682203" cy="16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Google Gemini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3047566" y="4733722"/>
            <a:ext cx="1682203" cy="16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FastAPI Backend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3047566" y="4037605"/>
            <a:ext cx="1682203" cy="16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Streamlit Frontend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047566" y="3334385"/>
            <a:ext cx="1682203" cy="16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User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31908" y="6083002"/>
            <a:ext cx="11537463" cy="111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9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frontend and AI processing are separated through a backend API, making the system </a:t>
            </a:r>
            <a:pPr algn="l" indent="0" marL="0">
              <a:lnSpc>
                <a:spcPct val="79000"/>
              </a:lnSpc>
              <a:buNone/>
            </a:pPr>
            <a:r>
              <a:rPr lang="en-US" sz="900" b="1" dirty="0">
                <a:solidFill>
                  <a:srgbClr val="84796D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modular and easier to maintain</a:t>
            </a:r>
            <a:pPr algn="l" indent="0" marL="0">
              <a:lnSpc>
                <a:spcPct val="79000"/>
              </a:lnSpc>
              <a:buNone/>
            </a:pPr>
            <a:r>
              <a:rPr lang="en-US" sz="9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Environment variables securely manage the Gemini API key configuration.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66738"/>
            <a:ext cx="1828159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AF968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31908" y="859036"/>
            <a:ext cx="10927878" cy="475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70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Backend &amp; AI Integration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31908" y="2196207"/>
            <a:ext cx="4902573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FastAPI Endpoints</a:t>
            </a:r>
            <a:endParaRPr lang="en-US" sz="1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1908" y="2636838"/>
            <a:ext cx="2361050" cy="25037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9380" y="2842716"/>
            <a:ext cx="1847705" cy="250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84796D"/>
                </a:solidFill>
                <a:highlight>
                  <a:srgbClr val="F2F2E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39380" y="3273425"/>
            <a:ext cx="1847705" cy="1258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Verifies backend is running. Returns </a:t>
            </a:r>
            <a:pPr algn="l" indent="0" marL="0">
              <a:lnSpc>
                <a:spcPct val="96000"/>
              </a:lnSpc>
              <a:buNone/>
            </a:pPr>
            <a:r>
              <a:rPr lang="en-US" sz="1400" dirty="0">
                <a:solidFill>
                  <a:srgbClr val="84796D"/>
                </a:solidFill>
                <a:highlight>
                  <a:srgbClr val="F2F2E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{"status": "healthy"}</a:t>
            </a:r>
            <a:pPr algn="l" indent="0" marL="0">
              <a:lnSpc>
                <a:spcPct val="96000"/>
              </a:lnSpc>
              <a:buNone/>
            </a:pPr>
            <a:r>
              <a:rPr lang="en-US" sz="14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Provides a simple availability check before each session.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73432" y="2636838"/>
            <a:ext cx="2361050" cy="250378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80904" y="2842716"/>
            <a:ext cx="1847705" cy="250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84796D"/>
                </a:solidFill>
                <a:highlight>
                  <a:srgbClr val="F2F2E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/ask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3480904" y="3273425"/>
            <a:ext cx="1847705" cy="1661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Accepts the user's legal question, validates input, sends a prompt to Gemini, processes the AI response, and returns structured legal information.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981352" y="2196207"/>
            <a:ext cx="5584685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AI Processing Flow</a:t>
            </a:r>
            <a:endParaRPr lang="en-US" sz="1850" dirty="0"/>
          </a:p>
        </p:txBody>
      </p:sp>
      <p:sp>
        <p:nvSpPr>
          <p:cNvPr id="12" name="Shape 8"/>
          <p:cNvSpPr/>
          <p:nvPr/>
        </p:nvSpPr>
        <p:spPr>
          <a:xfrm>
            <a:off x="5981352" y="2636838"/>
            <a:ext cx="406191" cy="406202"/>
          </a:xfrm>
          <a:prstGeom prst="roundRect">
            <a:avLst>
              <a:gd name="adj" fmla="val 1876"/>
            </a:avLst>
          </a:prstGeom>
          <a:solidFill>
            <a:srgbClr val="614B3C"/>
          </a:solidFill>
          <a:ln w="6350">
            <a:solidFill>
              <a:srgbClr val="7A645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041923" y="2697411"/>
            <a:ext cx="285048" cy="2850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568018" y="2727027"/>
            <a:ext cx="4998019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Input Validation</a:t>
            </a:r>
            <a:endParaRPr lang="en-US" sz="1850" dirty="0"/>
          </a:p>
        </p:txBody>
      </p:sp>
      <p:sp>
        <p:nvSpPr>
          <p:cNvPr id="15" name="Text 11"/>
          <p:cNvSpPr/>
          <p:nvPr/>
        </p:nvSpPr>
        <p:spPr>
          <a:xfrm>
            <a:off x="6568018" y="3145036"/>
            <a:ext cx="4998019" cy="428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 is received and validated by the FastAPI </a:t>
            </a:r>
            <a:pPr algn="l" indent="0" marL="0">
              <a:lnSpc>
                <a:spcPct val="96000"/>
              </a:lnSpc>
              <a:buNone/>
            </a:pPr>
            <a:r>
              <a:rPr lang="en-US" sz="1400" dirty="0">
                <a:solidFill>
                  <a:srgbClr val="84796D"/>
                </a:solidFill>
                <a:highlight>
                  <a:srgbClr val="F2F2E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/ask</a:t>
            </a:r>
            <a:pPr algn="l" indent="0" marL="0">
              <a:lnSpc>
                <a:spcPct val="96000"/>
              </a:lnSpc>
              <a:buNone/>
            </a:pPr>
            <a:r>
              <a:rPr lang="en-US" sz="14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endpoint.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981352" y="3934123"/>
            <a:ext cx="406191" cy="406202"/>
          </a:xfrm>
          <a:prstGeom prst="roundRect">
            <a:avLst>
              <a:gd name="adj" fmla="val 1876"/>
            </a:avLst>
          </a:prstGeom>
          <a:solidFill>
            <a:srgbClr val="614B3C"/>
          </a:solidFill>
          <a:ln w="6350">
            <a:solidFill>
              <a:srgbClr val="7A645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041923" y="3994696"/>
            <a:ext cx="285048" cy="2850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6568018" y="4024313"/>
            <a:ext cx="4998019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Gemini API Call</a:t>
            </a:r>
            <a:endParaRPr lang="en-US" sz="1850" dirty="0"/>
          </a:p>
        </p:txBody>
      </p:sp>
      <p:sp>
        <p:nvSpPr>
          <p:cNvPr id="19" name="Text 15"/>
          <p:cNvSpPr/>
          <p:nvPr/>
        </p:nvSpPr>
        <p:spPr>
          <a:xfrm>
            <a:off x="6568018" y="4442321"/>
            <a:ext cx="4998019" cy="415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 is sent to Google Gemini, guiding it to act as a legal information assistant with Indian legal context.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981352" y="5218708"/>
            <a:ext cx="406191" cy="406202"/>
          </a:xfrm>
          <a:prstGeom prst="roundRect">
            <a:avLst>
              <a:gd name="adj" fmla="val 1876"/>
            </a:avLst>
          </a:prstGeom>
          <a:solidFill>
            <a:srgbClr val="614B3C"/>
          </a:solidFill>
          <a:ln w="6350">
            <a:solidFill>
              <a:srgbClr val="7A645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041923" y="5279281"/>
            <a:ext cx="285048" cy="2850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6568018" y="5308898"/>
            <a:ext cx="4998019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Response Processing</a:t>
            </a:r>
            <a:endParaRPr lang="en-US" sz="1850" dirty="0"/>
          </a:p>
        </p:txBody>
      </p:sp>
      <p:sp>
        <p:nvSpPr>
          <p:cNvPr id="23" name="Text 19"/>
          <p:cNvSpPr/>
          <p:nvPr/>
        </p:nvSpPr>
        <p:spPr>
          <a:xfrm>
            <a:off x="6568018" y="5726906"/>
            <a:ext cx="4998019" cy="415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output is processed and returned to the Streamlit frontend for display.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90252"/>
            <a:ext cx="931343" cy="132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AF968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31908" y="812502"/>
            <a:ext cx="10927878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95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User Interface &amp; Working Demo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31908" y="1760736"/>
            <a:ext cx="4159642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Interface Elements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1908" y="2080816"/>
            <a:ext cx="288819" cy="144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31908" y="2271018"/>
            <a:ext cx="4159642" cy="19050"/>
          </a:xfrm>
          <a:prstGeom prst="rect">
            <a:avLst/>
          </a:prstGeom>
          <a:solidFill>
            <a:srgbClr val="614B3C"/>
          </a:solidFill>
          <a:ln/>
        </p:spPr>
      </p:sp>
      <p:sp>
        <p:nvSpPr>
          <p:cNvPr id="7" name="Text 5"/>
          <p:cNvSpPr/>
          <p:nvPr/>
        </p:nvSpPr>
        <p:spPr>
          <a:xfrm>
            <a:off x="631908" y="2381250"/>
            <a:ext cx="4159642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Status Check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1908" y="2686844"/>
            <a:ext cx="4159642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100" i="1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"Backend is connected and running!"</a:t>
            </a:r>
            <a:pPr algn="l" indent="0" marL="0">
              <a:lnSpc>
                <a:spcPct val="86000"/>
              </a:lnSpc>
              <a:buNone/>
            </a:pPr>
            <a:r>
              <a:rPr lang="en-US" sz="11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confirmed on load.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908" y="3060005"/>
            <a:ext cx="288819" cy="144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1908" y="3250208"/>
            <a:ext cx="4159642" cy="19050"/>
          </a:xfrm>
          <a:prstGeom prst="rect">
            <a:avLst/>
          </a:prstGeom>
          <a:solidFill>
            <a:srgbClr val="614B3C"/>
          </a:solidFill>
          <a:ln/>
        </p:spPr>
      </p:sp>
      <p:sp>
        <p:nvSpPr>
          <p:cNvPr id="11" name="Text 9"/>
          <p:cNvSpPr/>
          <p:nvPr/>
        </p:nvSpPr>
        <p:spPr>
          <a:xfrm>
            <a:off x="631908" y="3360440"/>
            <a:ext cx="4159642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Enter Question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1908" y="3666034"/>
            <a:ext cx="4159642" cy="298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1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types a legal query in plain language (e.g., </a:t>
            </a:r>
            <a:pPr algn="l" indent="0" marL="0">
              <a:lnSpc>
                <a:spcPct val="86000"/>
              </a:lnSpc>
              <a:buNone/>
            </a:pPr>
            <a:r>
              <a:rPr lang="en-US" sz="1100" i="1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"contract law in India"</a:t>
            </a:r>
            <a:pPr algn="l" indent="0" marL="0">
              <a:lnSpc>
                <a:spcPct val="86000"/>
              </a:lnSpc>
              <a:buNone/>
            </a:pPr>
            <a:r>
              <a:rPr lang="en-US" sz="11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1908" y="4188619"/>
            <a:ext cx="288819" cy="144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1908" y="4378821"/>
            <a:ext cx="4159642" cy="19050"/>
          </a:xfrm>
          <a:prstGeom prst="rect">
            <a:avLst/>
          </a:prstGeom>
          <a:solidFill>
            <a:srgbClr val="614B3C"/>
          </a:solidFill>
          <a:ln/>
        </p:spPr>
      </p:sp>
      <p:sp>
        <p:nvSpPr>
          <p:cNvPr id="15" name="Text 13"/>
          <p:cNvSpPr/>
          <p:nvPr/>
        </p:nvSpPr>
        <p:spPr>
          <a:xfrm>
            <a:off x="631908" y="4489053"/>
            <a:ext cx="4159642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Click Ask LegalEaseAI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1908" y="4794647"/>
            <a:ext cx="4159642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1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Frontend sends an HTTP request to the FastAPI backend.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1908" y="5167809"/>
            <a:ext cx="288819" cy="144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1908" y="5358011"/>
            <a:ext cx="4159642" cy="19050"/>
          </a:xfrm>
          <a:prstGeom prst="rect">
            <a:avLst/>
          </a:prstGeom>
          <a:solidFill>
            <a:srgbClr val="614B3C"/>
          </a:solidFill>
          <a:ln/>
        </p:spPr>
      </p:sp>
      <p:sp>
        <p:nvSpPr>
          <p:cNvPr id="19" name="Text 17"/>
          <p:cNvSpPr/>
          <p:nvPr/>
        </p:nvSpPr>
        <p:spPr>
          <a:xfrm>
            <a:off x="631908" y="5468243"/>
            <a:ext cx="4159642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Response Displayed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31908" y="5773837"/>
            <a:ext cx="4159642" cy="298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1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legal information appears on the page in a readable format.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50316" y="1760736"/>
            <a:ext cx="6415721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Example Output — Contract Law in India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150316" y="2080816"/>
            <a:ext cx="3150117" cy="1541066"/>
          </a:xfrm>
          <a:prstGeom prst="roundRect">
            <a:avLst>
              <a:gd name="adj" fmla="val 494"/>
            </a:avLst>
          </a:prstGeom>
          <a:solidFill>
            <a:srgbClr val="FFFFF9"/>
          </a:solidFill>
          <a:ln w="19050">
            <a:solidFill>
              <a:srgbClr val="614B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13726" y="2244229"/>
            <a:ext cx="2823298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Indian Contract Act, 1872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313726" y="2549823"/>
            <a:ext cx="2823298" cy="448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1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Foundational framework for contracts in India. Section 2(h) defines a legally enforceable agreement.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15921" y="2080816"/>
            <a:ext cx="3150117" cy="1541066"/>
          </a:xfrm>
          <a:prstGeom prst="roundRect">
            <a:avLst>
              <a:gd name="adj" fmla="val 494"/>
            </a:avLst>
          </a:prstGeom>
          <a:solidFill>
            <a:srgbClr val="FFFFF9"/>
          </a:solidFill>
          <a:ln w="19050">
            <a:solidFill>
              <a:srgbClr val="614B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79330" y="2244229"/>
            <a:ext cx="2823298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Essential Elements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579330" y="2549823"/>
            <a:ext cx="2823298" cy="908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86000"/>
              </a:lnSpc>
              <a:buSzPct val="100000"/>
              <a:buChar char="•"/>
            </a:pPr>
            <a:r>
              <a:rPr lang="en-US" sz="11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Offer &amp; Acceptance</a:t>
            </a:r>
            <a:endParaRPr lang="en-US" sz="1100" dirty="0"/>
          </a:p>
          <a:p>
            <a:pPr algn="l" marL="223520" indent="-223520">
              <a:lnSpc>
                <a:spcPct val="86000"/>
              </a:lnSpc>
              <a:buSzPct val="100000"/>
              <a:buChar char="•"/>
            </a:pPr>
            <a:r>
              <a:rPr lang="en-US" sz="11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Lawful Consideration</a:t>
            </a:r>
            <a:endParaRPr lang="en-US" sz="1100" dirty="0"/>
          </a:p>
          <a:p>
            <a:pPr algn="l" marL="223520" indent="-223520">
              <a:lnSpc>
                <a:spcPct val="86000"/>
              </a:lnSpc>
              <a:buSzPct val="100000"/>
              <a:buChar char="•"/>
            </a:pPr>
            <a:r>
              <a:rPr lang="en-US" sz="11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Capacity of Parties</a:t>
            </a:r>
            <a:endParaRPr lang="en-US" sz="1100" dirty="0"/>
          </a:p>
          <a:p>
            <a:pPr algn="l" marL="223520" indent="-223520">
              <a:lnSpc>
                <a:spcPct val="86000"/>
              </a:lnSpc>
              <a:buSzPct val="100000"/>
              <a:buChar char="•"/>
            </a:pPr>
            <a:r>
              <a:rPr lang="en-US" sz="11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Free Consent</a:t>
            </a:r>
            <a:endParaRPr lang="en-US" sz="1100" dirty="0"/>
          </a:p>
          <a:p>
            <a:pPr algn="l" marL="223520" indent="-223520">
              <a:lnSpc>
                <a:spcPct val="86000"/>
              </a:lnSpc>
              <a:buSzPct val="100000"/>
              <a:buChar char="•"/>
            </a:pPr>
            <a:r>
              <a:rPr lang="en-US" sz="11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Lawful Object &amp; Purpose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50316" y="3737372"/>
            <a:ext cx="6415721" cy="1161455"/>
          </a:xfrm>
          <a:prstGeom prst="roundRect">
            <a:avLst>
              <a:gd name="adj" fmla="val 656"/>
            </a:avLst>
          </a:prstGeom>
          <a:solidFill>
            <a:srgbClr val="FFFFF9"/>
          </a:solidFill>
          <a:ln w="19050">
            <a:solidFill>
              <a:srgbClr val="614B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13726" y="3900785"/>
            <a:ext cx="6088902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Breach &amp; Remedies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5313726" y="4206379"/>
            <a:ext cx="6088902" cy="529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86000"/>
              </a:lnSpc>
              <a:buSzPct val="100000"/>
              <a:buChar char="•"/>
            </a:pPr>
            <a:r>
              <a:rPr lang="en-US" sz="11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Damages / Compensation</a:t>
            </a:r>
            <a:endParaRPr lang="en-US" sz="1100" dirty="0"/>
          </a:p>
          <a:p>
            <a:pPr algn="l" marL="223520" indent="-223520">
              <a:lnSpc>
                <a:spcPct val="86000"/>
              </a:lnSpc>
              <a:buSzPct val="100000"/>
              <a:buChar char="•"/>
            </a:pPr>
            <a:r>
              <a:rPr lang="en-US" sz="11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Specific Performance</a:t>
            </a:r>
            <a:endParaRPr lang="en-US" sz="1100" dirty="0"/>
          </a:p>
          <a:p>
            <a:pPr algn="l" marL="223520" indent="-223520">
              <a:lnSpc>
                <a:spcPct val="86000"/>
              </a:lnSpc>
              <a:buSzPct val="100000"/>
              <a:buChar char="•"/>
            </a:pPr>
            <a:r>
              <a:rPr lang="en-US" sz="11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Injunction · Rescission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638175"/>
            <a:ext cx="1331383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AF968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RELIABILITY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31908" y="894755"/>
            <a:ext cx="10927878" cy="427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35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Safety, Disclaimer &amp; Error Handling</a:t>
            </a:r>
            <a:endParaRPr lang="en-US" sz="3350" dirty="0"/>
          </a:p>
        </p:txBody>
      </p:sp>
      <p:sp>
        <p:nvSpPr>
          <p:cNvPr id="4" name="Text 2"/>
          <p:cNvSpPr/>
          <p:nvPr/>
        </p:nvSpPr>
        <p:spPr>
          <a:xfrm>
            <a:off x="631908" y="2029817"/>
            <a:ext cx="5265705" cy="213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Responsible AI Approach</a:t>
            </a:r>
            <a:endParaRPr lang="en-US" sz="1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2859" y="2389088"/>
            <a:ext cx="5284755" cy="7530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2424" y="2408138"/>
            <a:ext cx="5065189" cy="213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General Information Only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32424" y="2768104"/>
            <a:ext cx="5065189" cy="355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125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responses are not a substitute for a qualified lawyer. Users are advised to verify important legal information.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859" y="3396456"/>
            <a:ext cx="5284755" cy="75307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2424" y="3415506"/>
            <a:ext cx="5065189" cy="213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Jurisdiction Awareness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832424" y="3775472"/>
            <a:ext cx="5065189" cy="355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125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Laws can vary depending on situation and jurisdiction. Professional legal assistance should be sought for specific cases.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2859" y="4403824"/>
            <a:ext cx="5284755" cy="75307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2424" y="4422874"/>
            <a:ext cx="5065189" cy="213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Clear Disclaimer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832424" y="4782840"/>
            <a:ext cx="5065189" cy="355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125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interface explicitly communicates the informational nature of all AI-generated responses.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300431" y="2029817"/>
            <a:ext cx="5265705" cy="213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Error Handling</a:t>
            </a:r>
            <a:endParaRPr lang="en-US" sz="1650" dirty="0"/>
          </a:p>
        </p:txBody>
      </p:sp>
      <p:sp>
        <p:nvSpPr>
          <p:cNvPr id="15" name="Shape 10"/>
          <p:cNvSpPr/>
          <p:nvPr/>
        </p:nvSpPr>
        <p:spPr>
          <a:xfrm>
            <a:off x="6300431" y="2408138"/>
            <a:ext cx="2559780" cy="1863626"/>
          </a:xfrm>
          <a:prstGeom prst="roundRect">
            <a:avLst>
              <a:gd name="adj" fmla="val 409"/>
            </a:avLst>
          </a:prstGeom>
          <a:solidFill>
            <a:srgbClr val="614B3C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69198" y="2576909"/>
            <a:ext cx="487450" cy="487462"/>
          </a:xfrm>
          <a:prstGeom prst="ellipse">
            <a:avLst/>
          </a:prstGeom>
          <a:solidFill>
            <a:srgbClr val="EEEEE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3239" y="2710954"/>
            <a:ext cx="219268" cy="21927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69198" y="3210520"/>
            <a:ext cx="2222246" cy="213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Empty Questions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6469198" y="3570486"/>
            <a:ext cx="2222246" cy="355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Validated before sending — prevents empty API calls.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9006357" y="2408138"/>
            <a:ext cx="2559780" cy="1863626"/>
          </a:xfrm>
          <a:prstGeom prst="roundRect">
            <a:avLst>
              <a:gd name="adj" fmla="val 409"/>
            </a:avLst>
          </a:prstGeom>
          <a:solidFill>
            <a:srgbClr val="614B3C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175124" y="2576909"/>
            <a:ext cx="487450" cy="487462"/>
          </a:xfrm>
          <a:prstGeom prst="ellipse">
            <a:avLst/>
          </a:prstGeom>
          <a:solidFill>
            <a:srgbClr val="EEEEEE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09165" y="2710954"/>
            <a:ext cx="219268" cy="21927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75124" y="3210520"/>
            <a:ext cx="2222246" cy="213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Connection Failures</a:t>
            </a:r>
            <a:endParaRPr lang="en-US" sz="1650" dirty="0"/>
          </a:p>
        </p:txBody>
      </p:sp>
      <p:sp>
        <p:nvSpPr>
          <p:cNvPr id="24" name="Text 17"/>
          <p:cNvSpPr/>
          <p:nvPr/>
        </p:nvSpPr>
        <p:spPr>
          <a:xfrm>
            <a:off x="9175124" y="3570486"/>
            <a:ext cx="2222246" cy="532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Graceful error messages displayed instead of silent failures.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6300431" y="4417913"/>
            <a:ext cx="5265705" cy="1686123"/>
          </a:xfrm>
          <a:prstGeom prst="roundRect">
            <a:avLst>
              <a:gd name="adj" fmla="val 452"/>
            </a:avLst>
          </a:prstGeom>
          <a:solidFill>
            <a:srgbClr val="614B3C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469198" y="4586684"/>
            <a:ext cx="487450" cy="487462"/>
          </a:xfrm>
          <a:prstGeom prst="ellipse">
            <a:avLst/>
          </a:prstGeom>
          <a:solidFill>
            <a:srgbClr val="EEEEEE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3239" y="4720729"/>
            <a:ext cx="219268" cy="21927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69198" y="5220295"/>
            <a:ext cx="4928171" cy="213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AI / API Failures</a:t>
            </a:r>
            <a:endParaRPr lang="en-US" sz="1650" dirty="0"/>
          </a:p>
        </p:txBody>
      </p:sp>
      <p:sp>
        <p:nvSpPr>
          <p:cNvPr id="29" name="Text 21"/>
          <p:cNvSpPr/>
          <p:nvPr/>
        </p:nvSpPr>
        <p:spPr>
          <a:xfrm>
            <a:off x="6469198" y="5580261"/>
            <a:ext cx="4928171" cy="355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 catches and returns meaningful error responses to the frontend.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8054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2501801"/>
            <a:ext cx="1419289" cy="132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AF968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FUTURE SCOPE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31908" y="2724051"/>
            <a:ext cx="10927878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95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Future Enhancements</a:t>
            </a:r>
            <a:endParaRPr lang="en-US" sz="2950" dirty="0"/>
          </a:p>
        </p:txBody>
      </p:sp>
      <p:sp>
        <p:nvSpPr>
          <p:cNvPr id="5" name="Shape 2"/>
          <p:cNvSpPr/>
          <p:nvPr/>
        </p:nvSpPr>
        <p:spPr>
          <a:xfrm>
            <a:off x="631908" y="3556794"/>
            <a:ext cx="10927878" cy="2368649"/>
          </a:xfrm>
          <a:prstGeom prst="roundRect">
            <a:avLst>
              <a:gd name="adj" fmla="val 322"/>
            </a:avLst>
          </a:prstGeom>
          <a:solidFill>
            <a:srgbClr val="614B3C"/>
          </a:solidFill>
          <a:ln w="6350">
            <a:solidFill>
              <a:srgbClr val="7A645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38258" y="3563144"/>
            <a:ext cx="5457589" cy="735509"/>
          </a:xfrm>
          <a:custGeom>
            <a:avLst/>
            <a:gdLst/>
            <a:ahLst/>
            <a:cxnLst/>
            <a:rect l="l" t="t" r="r" b="b"/>
            <a:pathLst>
              <a:path w="5457589" h="735509">
                <a:moveTo>
                  <a:pt x="6350" y="0"/>
                </a:moveTo>
                <a:lnTo>
                  <a:pt x="5457589" y="0"/>
                </a:lnTo>
                <a:lnTo>
                  <a:pt x="5457589" y="735509"/>
                </a:lnTo>
                <a:lnTo>
                  <a:pt x="0" y="735509"/>
                </a:lnTo>
                <a:lnTo>
                  <a:pt x="0" y="6350"/>
                </a:lnTo>
                <a:arcTo hR="6350" wR="6350" stAng="10800000" swAng="5400000"/>
                <a:close/>
              </a:path>
            </a:pathLst>
          </a:custGeom>
          <a:solidFill>
            <a:srgbClr val="614B3C"/>
          </a:solidFill>
          <a:ln/>
        </p:spPr>
      </p:sp>
      <p:sp>
        <p:nvSpPr>
          <p:cNvPr id="7" name="Text 4"/>
          <p:cNvSpPr/>
          <p:nvPr/>
        </p:nvSpPr>
        <p:spPr>
          <a:xfrm>
            <a:off x="782618" y="3707507"/>
            <a:ext cx="5168870" cy="228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Document Analysis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82618" y="4004866"/>
            <a:ext cx="5168870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PDF/document upload and legal document parsing.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5848" y="3563144"/>
            <a:ext cx="5457589" cy="735509"/>
          </a:xfrm>
          <a:custGeom>
            <a:avLst/>
            <a:gdLst/>
            <a:ahLst/>
            <a:cxnLst/>
            <a:rect l="l" t="t" r="r" b="b"/>
            <a:pathLst>
              <a:path w="5457589" h="735509">
                <a:moveTo>
                  <a:pt x="0" y="0"/>
                </a:moveTo>
                <a:lnTo>
                  <a:pt x="5451239" y="0"/>
                </a:lnTo>
                <a:arcTo hR="6350" wR="6350" stAng="16200000" swAng="5400000"/>
                <a:lnTo>
                  <a:pt x="5457589" y="735509"/>
                </a:lnTo>
                <a:lnTo>
                  <a:pt x="0" y="735509"/>
                </a:lnTo>
                <a:lnTo>
                  <a:pt x="0" y="0"/>
                </a:lnTo>
                <a:close/>
              </a:path>
            </a:pathLst>
          </a:custGeom>
          <a:solidFill>
            <a:srgbClr val="614B3C"/>
          </a:solidFill>
          <a:ln/>
        </p:spPr>
      </p:sp>
      <p:sp>
        <p:nvSpPr>
          <p:cNvPr id="10" name="Shape 7"/>
          <p:cNvSpPr/>
          <p:nvPr/>
        </p:nvSpPr>
        <p:spPr>
          <a:xfrm>
            <a:off x="6095848" y="3563144"/>
            <a:ext cx="19050" cy="735509"/>
          </a:xfrm>
          <a:prstGeom prst="roundRect">
            <a:avLst>
              <a:gd name="adj" fmla="val 39999"/>
            </a:avLst>
          </a:prstGeom>
          <a:solidFill>
            <a:srgbClr val="7A6455"/>
          </a:solidFill>
          <a:ln/>
        </p:spPr>
      </p:sp>
      <p:sp>
        <p:nvSpPr>
          <p:cNvPr id="11" name="Text 8"/>
          <p:cNvSpPr/>
          <p:nvPr/>
        </p:nvSpPr>
        <p:spPr>
          <a:xfrm>
            <a:off x="6240207" y="3707507"/>
            <a:ext cx="5168870" cy="228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Knowledge Base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240207" y="4004866"/>
            <a:ext cx="5168870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Indian law database with citation of relevant acts and case search.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38258" y="4298652"/>
            <a:ext cx="5457589" cy="884932"/>
          </a:xfrm>
          <a:prstGeom prst="rect">
            <a:avLst/>
          </a:prstGeom>
          <a:solidFill>
            <a:srgbClr val="614B3C"/>
          </a:solidFill>
          <a:ln/>
        </p:spPr>
      </p:sp>
      <p:sp>
        <p:nvSpPr>
          <p:cNvPr id="14" name="Shape 11"/>
          <p:cNvSpPr/>
          <p:nvPr/>
        </p:nvSpPr>
        <p:spPr>
          <a:xfrm>
            <a:off x="638258" y="4298652"/>
            <a:ext cx="5457589" cy="19050"/>
          </a:xfrm>
          <a:prstGeom prst="roundRect">
            <a:avLst>
              <a:gd name="adj" fmla="val 39999"/>
            </a:avLst>
          </a:prstGeom>
          <a:solidFill>
            <a:srgbClr val="7A6455"/>
          </a:solidFill>
          <a:ln/>
        </p:spPr>
      </p:sp>
      <p:sp>
        <p:nvSpPr>
          <p:cNvPr id="15" name="Text 12"/>
          <p:cNvSpPr/>
          <p:nvPr/>
        </p:nvSpPr>
        <p:spPr>
          <a:xfrm>
            <a:off x="782618" y="4443016"/>
            <a:ext cx="5168870" cy="228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Multilingual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782618" y="4740374"/>
            <a:ext cx="5168870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Tamil language support and broader multilingual capabilities.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95848" y="4298652"/>
            <a:ext cx="5457589" cy="884932"/>
          </a:xfrm>
          <a:prstGeom prst="rect">
            <a:avLst/>
          </a:prstGeom>
          <a:solidFill>
            <a:srgbClr val="614B3C"/>
          </a:solidFill>
          <a:ln/>
        </p:spPr>
      </p:sp>
      <p:sp>
        <p:nvSpPr>
          <p:cNvPr id="18" name="Shape 15"/>
          <p:cNvSpPr/>
          <p:nvPr/>
        </p:nvSpPr>
        <p:spPr>
          <a:xfrm>
            <a:off x="6095848" y="4298652"/>
            <a:ext cx="19050" cy="884932"/>
          </a:xfrm>
          <a:prstGeom prst="roundRect">
            <a:avLst>
              <a:gd name="adj" fmla="val 39999"/>
            </a:avLst>
          </a:prstGeom>
          <a:solidFill>
            <a:srgbClr val="7A6455"/>
          </a:solidFill>
          <a:ln/>
        </p:spPr>
      </p:sp>
      <p:sp>
        <p:nvSpPr>
          <p:cNvPr id="19" name="Shape 16"/>
          <p:cNvSpPr/>
          <p:nvPr/>
        </p:nvSpPr>
        <p:spPr>
          <a:xfrm>
            <a:off x="6095848" y="4298652"/>
            <a:ext cx="5457589" cy="19050"/>
          </a:xfrm>
          <a:prstGeom prst="roundRect">
            <a:avLst>
              <a:gd name="adj" fmla="val 39999"/>
            </a:avLst>
          </a:prstGeom>
          <a:solidFill>
            <a:srgbClr val="7A6455"/>
          </a:solidFill>
          <a:ln/>
        </p:spPr>
      </p:sp>
      <p:sp>
        <p:nvSpPr>
          <p:cNvPr id="20" name="Text 17"/>
          <p:cNvSpPr/>
          <p:nvPr/>
        </p:nvSpPr>
        <p:spPr>
          <a:xfrm>
            <a:off x="6240207" y="4443016"/>
            <a:ext cx="5168870" cy="228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RAG Architecture</a:t>
            </a:r>
            <a:endParaRPr lang="en-US" sz="1750" dirty="0"/>
          </a:p>
        </p:txBody>
      </p:sp>
      <p:sp>
        <p:nvSpPr>
          <p:cNvPr id="21" name="Text 18"/>
          <p:cNvSpPr/>
          <p:nvPr/>
        </p:nvSpPr>
        <p:spPr>
          <a:xfrm>
            <a:off x="6240207" y="4740374"/>
            <a:ext cx="5168870" cy="298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 + Legal Knowledge Base + Verified Sources for improved factual grounding.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38258" y="5183584"/>
            <a:ext cx="10915178" cy="735509"/>
          </a:xfrm>
          <a:custGeom>
            <a:avLst/>
            <a:gdLst/>
            <a:ahLst/>
            <a:cxnLst/>
            <a:rect l="l" t="t" r="r" b="b"/>
            <a:pathLst>
              <a:path w="10915178" h="735509">
                <a:moveTo>
                  <a:pt x="0" y="0"/>
                </a:moveTo>
                <a:lnTo>
                  <a:pt x="10915178" y="0"/>
                </a:lnTo>
                <a:lnTo>
                  <a:pt x="10915178" y="729159"/>
                </a:lnTo>
                <a:arcTo hR="6350" wR="6350" stAng="0" swAng="5400000"/>
                <a:lnTo>
                  <a:pt x="6350" y="735509"/>
                </a:lnTo>
                <a:arcTo hR="6350" wR="6350" stAng="5400000" swAng="5400000"/>
                <a:lnTo>
                  <a:pt x="0" y="0"/>
                </a:lnTo>
                <a:close/>
              </a:path>
            </a:pathLst>
          </a:custGeom>
          <a:solidFill>
            <a:srgbClr val="614B3C"/>
          </a:solidFill>
          <a:ln/>
        </p:spPr>
      </p:sp>
      <p:sp>
        <p:nvSpPr>
          <p:cNvPr id="23" name="Shape 20"/>
          <p:cNvSpPr/>
          <p:nvPr/>
        </p:nvSpPr>
        <p:spPr>
          <a:xfrm>
            <a:off x="638258" y="5183584"/>
            <a:ext cx="10915178" cy="19050"/>
          </a:xfrm>
          <a:prstGeom prst="roundRect">
            <a:avLst>
              <a:gd name="adj" fmla="val 39999"/>
            </a:avLst>
          </a:prstGeom>
          <a:solidFill>
            <a:srgbClr val="7A6455"/>
          </a:solidFill>
          <a:ln/>
        </p:spPr>
      </p:sp>
      <p:sp>
        <p:nvSpPr>
          <p:cNvPr id="24" name="Text 21"/>
          <p:cNvSpPr/>
          <p:nvPr/>
        </p:nvSpPr>
        <p:spPr>
          <a:xfrm>
            <a:off x="782618" y="5327948"/>
            <a:ext cx="10626459" cy="228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User Features</a:t>
            </a:r>
            <a:endParaRPr lang="en-US" sz="1750" dirty="0"/>
          </a:p>
        </p:txBody>
      </p:sp>
      <p:sp>
        <p:nvSpPr>
          <p:cNvPr id="25" name="Text 22"/>
          <p:cNvSpPr/>
          <p:nvPr/>
        </p:nvSpPr>
        <p:spPr>
          <a:xfrm>
            <a:off x="782618" y="5625306"/>
            <a:ext cx="10626459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Conversation history, user authentication, and lawyer consultation integration.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31908" y="6055420"/>
            <a:ext cx="11537463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1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enhancement builds toward a more comprehensive, trustworthy, and accessible legal-information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642342"/>
            <a:ext cx="1317691" cy="132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AF968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31908" y="864592"/>
            <a:ext cx="10927878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95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Summary &amp; Takeaways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31908" y="2854424"/>
            <a:ext cx="3645206" cy="228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83000"/>
              </a:lnSpc>
              <a:buNone/>
            </a:pPr>
            <a:r>
              <a:rPr lang="en-US" sz="175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AI-Powered Accessibility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31908" y="3151783"/>
            <a:ext cx="3645206" cy="448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86000"/>
              </a:lnSpc>
              <a:buNone/>
            </a:pPr>
            <a:r>
              <a:rPr lang="en-US" sz="11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LegalEaseAI demonstrates how Gemini AI can convert complex legal concepts into clear, understandable information for everyday users.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5933" y="1697335"/>
            <a:ext cx="3059730" cy="30598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32686" y="2934940"/>
            <a:ext cx="216093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842252" y="2035274"/>
            <a:ext cx="3717534" cy="228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5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Modular Architecture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842252" y="2332633"/>
            <a:ext cx="3717534" cy="448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1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 frontend/backend separation via FastAPI REST API ensures the system is maintainable, scalable, and extensible.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933" y="1697335"/>
            <a:ext cx="3059730" cy="305980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74626" y="2297460"/>
            <a:ext cx="216093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842252" y="3673475"/>
            <a:ext cx="3717534" cy="228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5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Responsible Design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7842252" y="3970834"/>
            <a:ext cx="3717534" cy="448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1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Built-in disclaimers, error handling, and backend health monitoring reflect a production-minded, responsible engineering approach.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933" y="1697335"/>
            <a:ext cx="3059730" cy="305980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55645" y="4124771"/>
            <a:ext cx="216093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631908" y="5209778"/>
            <a:ext cx="10927878" cy="1049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100" i="1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LegalEaseAI — Making legal information easier to understand and access through conversational AI.</a:t>
            </a:r>
            <a:endParaRPr lang="en-US" sz="4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2026-09-28T16:47:58Z</dcterms:created>
  <dcterms:modified xsi:type="dcterms:W3CDTF">2026-09-28T16:47:58Z</dcterms:modified>
</cp:coreProperties>
</file>